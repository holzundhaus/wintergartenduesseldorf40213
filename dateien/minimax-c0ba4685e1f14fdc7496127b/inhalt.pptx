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wintergartenduesseldorf40213/barrierefreier-wintergarten-schwellen-tueren-boden/" TargetMode="External"/><Relationship Id="rId3" Type="http://schemas.openxmlformats.org/officeDocument/2006/relationships/hyperlink" Target="https://holzundhaus.github.io/wintergartenduesseldorf40213/dateien/minimax-c0ba4685e1f14fdc7496127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Barrierefreier Wintergarten: Schwellen, Türen und Boden im Bestand · Erklärende Präsentation</a:t>
            </a:r>
          </a:p>
        </p:txBody>
      </p:sp>
      <p:sp>
        <p:nvSpPr>
          <p:cNvPr id="3" name="Content Placeholder 2"/>
          <p:cNvSpPr>
            <a:spLocks noGrp="1"/>
          </p:cNvSpPr>
          <p:nvPr>
            <p:ph idx="1"/>
          </p:nvPr>
        </p:nvSpPr>
        <p:spPr/>
        <p:txBody>
          <a:bodyPr/>
          <a:lstStyle/>
          <a:p>
            <a:r>
              <a:t>Überblick: Ein barrierefreier Wintergarten beginnt nicht erst bei der Tür, sondern am gesamten Übergang zwischen Haus, Wintergarten und Garten. Schwellenhöhe, Türbreite, Bewegungsflächen sowie Bodenaufbau und Oberfläche müssen zusammenpassen. Für Düsseldorfer Bestandshäuser ist dabei besonders wichtig, die vorhandenen Höhen und baulichen Grenzen vor dem Entwurf zu prüfen. Dieser Leitfaden ordnet die entscheidenden Fragen und zeigt, welche Unterlagen für eine realistische Planung helfen.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Übergang entscheidet über die Nutzbarkeit</a:t>
            </a:r>
          </a:p>
        </p:txBody>
      </p:sp>
      <p:sp>
        <p:nvSpPr>
          <p:cNvPr id="3" name="Content Placeholder 2"/>
          <p:cNvSpPr>
            <a:spLocks noGrp="1"/>
          </p:cNvSpPr>
          <p:nvPr>
            <p:ph idx="1"/>
          </p:nvPr>
        </p:nvSpPr>
        <p:spPr/>
        <p:txBody>
          <a:bodyPr/>
          <a:lstStyle/>
          <a:p>
            <a:pPr>
              <a:defRPr sz="1800"/>
            </a:pPr>
            <a:r>
              <a:t>Ein stufenloser Zugang ist nur dann sinnvoll, wenn auch die Tür und die Flächen davor und dahinter passen. Eine breite Tür hilfft wenig, wenn der Boden uneben ist; ein höhengleicher Übergang nützt wenig, wenn der Durchgang zu schmal bleibt. Für die Planung sollten deshalb mindestens vier Punkte gemeinsam betrachtet werden: die Höhe der Schwelle, die lichte Breite des Zugangs, die Bewegungsflächen sowie die Eigenschaften des Bodenbelags. Das erhöht die Wahrscheinlichkeit, dass der Wintergarten im Alltag ohne Stolpern oder fremde Hilfe genutzt werden kann. Weitere Hintergrundinformationen bietet die Übersicht zum barrierefreien Wintergarten im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Übergang entscheidet über die Nutzbarkeit</a:t>
            </a:r>
          </a:p>
        </p:txBody>
      </p:sp>
      <p:sp>
        <p:nvSpPr>
          <p:cNvPr id="3" name="Content Placeholder 2"/>
          <p:cNvSpPr>
            <a:spLocks noGrp="1"/>
          </p:cNvSpPr>
          <p:nvPr>
            <p:ph idx="1"/>
          </p:nvPr>
        </p:nvSpPr>
        <p:spPr/>
        <p:txBody>
          <a:bodyPr/>
          <a:lstStyle/>
          <a:p>
            <a:pPr>
              <a:defRPr sz="1800"/>
            </a:pPr>
            <a:r>
              <a:t>Bestand.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Höhenunterschiede im Bestand richtig einordnen</a:t>
            </a:r>
          </a:p>
        </p:txBody>
      </p:sp>
      <p:sp>
        <p:nvSpPr>
          <p:cNvPr id="3" name="Content Placeholder 2"/>
          <p:cNvSpPr>
            <a:spLocks noGrp="1"/>
          </p:cNvSpPr>
          <p:nvPr>
            <p:ph idx="1"/>
          </p:nvPr>
        </p:nvSpPr>
        <p:spPr/>
        <p:txBody>
          <a:bodyPr/>
          <a:lstStyle/>
          <a:p>
            <a:pPr>
              <a:defRPr sz="1800"/>
            </a:pPr>
            <a:r>
              <a:t>In bestehenden Häusern endet der Estrich häufig auf einer anderen Höhe als die Terrasse oder der Gartenweg. Auch die Abdichtung an der Außenseite kann oberhalb des späteren Wintergartenbodens liegen. Eine höhengleiche Lösung ist deshalb nicht einfach durch das Verlegen eines neuen Belags erreicht. Entscheidend ist, welche Bodenhöhe im Wintergarten möglich ist und ob der Fertigboden exakt mit dem Innenniveau übereinstimmen soll. Eine bewusste Anpassung des Niveaus kann zwar den Aufwand erhöhen, eröffnet aber Spielraum für einen möglichst stufenlosen Übergang. Im Entwurf sollte die gewählte Höhe klar dokumentiert werden, damit später keine unbe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Höhenunterschiede im Bestand richtig einordnen</a:t>
            </a:r>
          </a:p>
        </p:txBody>
      </p:sp>
      <p:sp>
        <p:nvSpPr>
          <p:cNvPr id="3" name="Content Placeholder 2"/>
          <p:cNvSpPr>
            <a:spLocks noGrp="1"/>
          </p:cNvSpPr>
          <p:nvPr>
            <p:ph idx="1"/>
          </p:nvPr>
        </p:nvSpPr>
        <p:spPr/>
        <p:txBody>
          <a:bodyPr/>
          <a:lstStyle/>
          <a:p>
            <a:pPr>
              <a:defRPr sz="1800"/>
            </a:pPr>
            <a:r>
              <a:t>absichtigte Stufe entsteht.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Türbreite und Bewegungsraum passend auswählen</a:t>
            </a:r>
          </a:p>
        </p:txBody>
      </p:sp>
      <p:sp>
        <p:nvSpPr>
          <p:cNvPr id="3" name="Content Placeholder 2"/>
          <p:cNvSpPr>
            <a:spLocks noGrp="1"/>
          </p:cNvSpPr>
          <p:nvPr>
            <p:ph idx="1"/>
          </p:nvPr>
        </p:nvSpPr>
        <p:spPr/>
        <p:txBody>
          <a:bodyPr/>
          <a:lstStyle/>
          <a:p>
            <a:pPr>
              <a:defRPr sz="1800"/>
            </a:pPr>
            <a:r>
              <a:t>Die Türbreite muss zur erwarteten Nutzung passen, beispielsweise zu Rollstuhl, Rollator oder Gehhilfe. In engen Reihen- oder Doppelhäusern begrenzen Grundstücksgrenzen und bestehende Wände den möglichen Durchgang. Eine Schiebe- oder Faltanlage kann eine große Öffnungsbreite schaffen, ohne zusätzlichen Platz vor der Tür zu benötigen. Alternativ kann eine zweite, kleinere Tür alltägliche Wege erleichtern, während ein breiter Zugang bei Bedarf frei bleibt. Ob die Bestandstür verbreitert werden kann, lässt sich nicht allein an der Wand erkennen: Sturz und angrenzende Bauteile müssen die erforderliche Funktion weitertragen. Diese Prüfung gehört 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Türbreite und Bewegungsraum passend auswählen</a:t>
            </a:r>
          </a:p>
        </p:txBody>
      </p:sp>
      <p:sp>
        <p:nvSpPr>
          <p:cNvPr id="3" name="Content Placeholder 2"/>
          <p:cNvSpPr>
            <a:spLocks noGrp="1"/>
          </p:cNvSpPr>
          <p:nvPr>
            <p:ph idx="1"/>
          </p:nvPr>
        </p:nvSpPr>
        <p:spPr/>
        <p:txBody>
          <a:bodyPr/>
          <a:lstStyle/>
          <a:p>
            <a:pPr>
              <a:defRPr sz="1800"/>
            </a:pPr>
            <a:r>
              <a:t>shalb in die Bestandsaufnahme und nicht in eine pauschale Planungsannahme.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Bodenbelag und Aufbau als Einheit planen</a:t>
            </a:r>
          </a:p>
        </p:txBody>
      </p:sp>
      <p:sp>
        <p:nvSpPr>
          <p:cNvPr id="3" name="Content Placeholder 2"/>
          <p:cNvSpPr>
            <a:spLocks noGrp="1"/>
          </p:cNvSpPr>
          <p:nvPr>
            <p:ph idx="1"/>
          </p:nvPr>
        </p:nvSpPr>
        <p:spPr/>
        <p:txBody>
          <a:bodyPr/>
          <a:lstStyle/>
          <a:p>
            <a:pPr>
              <a:defRPr sz="1800"/>
            </a:pPr>
            <a:r>
              <a:t>Der Boden im Wintergarten muss trittfest, bei Feuchtigkeit robust und möglichst rutschhemmend sein. Feinsteinzeug, Naturstein oder Betonwerkstein können dafür grundsätzlich infrage kommen; bei polierten Außenoberflächen ist jedoch die Rutschhemmung besonders wichtig. Vinyl- oder Designböden bieten eine angenehme Oberfläche, benötigen aber eine durchgehende, trockene und entsprechend gedämmte Konstruktion. Entscheidend ist nicht nur das sichtbare Material. Aufbau, Abdichtung, Dämmung und späterer Reinigungsaufwand beeinflussen sich gegenseitig. Ein feuchter Unterbau oder eine unzureichende Dämmung kann zudem den Komfort und die Wärmeverluste 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Bodenbelag und Aufbau als Einheit planen</a:t>
            </a:r>
          </a:p>
        </p:txBody>
      </p:sp>
      <p:sp>
        <p:nvSpPr>
          <p:cNvPr id="3" name="Content Placeholder 2"/>
          <p:cNvSpPr>
            <a:spLocks noGrp="1"/>
          </p:cNvSpPr>
          <p:nvPr>
            <p:ph idx="1"/>
          </p:nvPr>
        </p:nvSpPr>
        <p:spPr/>
        <p:txBody>
          <a:bodyPr/>
          <a:lstStyle/>
          <a:p>
            <a:pPr>
              <a:defRPr sz="1800"/>
            </a:pPr>
            <a:r>
              <a:t>m angrenzenden Wohnraum beeinträchtigen.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einer kurzen Bestandsaufnahme starten</a:t>
            </a:r>
          </a:p>
        </p:txBody>
      </p:sp>
      <p:sp>
        <p:nvSpPr>
          <p:cNvPr id="3" name="Content Placeholder 2"/>
          <p:cNvSpPr>
            <a:spLocks noGrp="1"/>
          </p:cNvSpPr>
          <p:nvPr>
            <p:ph idx="1"/>
          </p:nvPr>
        </p:nvSpPr>
        <p:spPr/>
        <p:txBody>
          <a:bodyPr/>
          <a:lstStyle/>
          <a:p>
            <a:pPr>
              <a:defRPr sz="1800"/>
            </a:pPr>
            <a:r>
              <a:t>Für das Erstgespräch genügen überschaubare Unterlagen: eine Skizze mit Hauswand, Wintergartenposition, Grundstücksgrenzen und Abständen; Fotos von Bestandswand, Terrasse sowie Bodenanschluss innen und außen; ein Aufmaß von Türöffnung, Sturzhöhe und Höhenversatz; und eine kurze Notiz zur gewünschten Nutzung, etwa Sitzplatz, Essbereich oder Bewegungsraum. Damit lassen sich offene Fragen schneller klären. Wird der Wintergarten dauerhaft genutzt, ist ein möglichst stufenloser Übergang besonders hilfreich. Für die rechtliche Einordnung und mögliche Bauvorlagen bietet sich zusätzlich der Genehmigungsratgeber zur Wintergarten-Baugenehmigung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Barrierefreier Wintergarten: Schwellen, Türen und Boden im Bestand</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