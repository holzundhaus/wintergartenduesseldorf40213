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wintergartenduesseldorf40213/wintergarten-und-immobilienwert-was-bleibt-was-ist-mode/" TargetMode="External"/><Relationship Id="rId3" Type="http://schemas.openxmlformats.org/officeDocument/2006/relationships/hyperlink" Target="https://holzundhaus.github.io/wintergartenduesseldorf40213/dateien/minimax-bb394f37a7390cab21755c4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und Immobilienwert: was bleibt, was ist Mode · Erklärende Präsentation</a:t>
            </a:r>
          </a:p>
        </p:txBody>
      </p:sp>
      <p:sp>
        <p:nvSpPr>
          <p:cNvPr id="3" name="Content Placeholder 2"/>
          <p:cNvSpPr>
            <a:spLocks noGrp="1"/>
          </p:cNvSpPr>
          <p:nvPr>
            <p:ph idx="1"/>
          </p:nvPr>
        </p:nvSpPr>
        <p:spPr/>
        <p:txBody>
          <a:bodyPr/>
          <a:lstStyle/>
          <a:p>
            <a:r>
              <a:t>Überblick: Ein Wintergarten kann den Wert einer Immobilie beeinflussen, entscheidend ist jedoch nicht jedes sichtbare Detail. Wer Bauidee, Materialien und Budget früh miteinander abgleicht, kann zwischen nachhaltig wertrelevanten Merkmalen und rein gestalterischen Entscheidungen unterscheiden. Der folgende Leitfaden hilft dabei, die wichtigsten Fragen vor der Angebots- und Planungsphase zu ordnen.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Wert in drei Dimensionen statt mit einem einzelnen Kriterium bewerten</a:t>
            </a:r>
          </a:p>
        </p:txBody>
      </p:sp>
      <p:sp>
        <p:nvSpPr>
          <p:cNvPr id="3" name="Content Placeholder 2"/>
          <p:cNvSpPr>
            <a:spLocks noGrp="1"/>
          </p:cNvSpPr>
          <p:nvPr>
            <p:ph idx="1"/>
          </p:nvPr>
        </p:nvSpPr>
        <p:spPr/>
        <p:txBody>
          <a:bodyPr/>
          <a:lstStyle/>
          <a:p>
            <a:pPr>
              <a:defRPr sz="1800"/>
            </a:pPr>
            <a:r>
              <a:t>Bei der Einschätzung eines Wintergartens hilft es, den Begriff Wert genauer zu betrachten. Der Nutzungswert beschreibt, wie viel zusätzliche, tatsächlich nutzbare Fläche entsteht. Der Marktwert beschreibt, wie ein späterer Interessent den Anbau einordnet. Der rechtliche Bestand fragt, ob der Wintergarten genehmigt, dokumentiert und in den Unterlagen nachvollziehbar ist. Ein Merkmal ist dann besonders belastbar, wenn es auf allen drei Ebenen positive Wirkung zeigt. Eine ansprechende Optik allein kann dagegen nicht verdecken, dass beispielsweise die Dokumentation unvollständig ist oder die energetische Qualität zu wünschen übrig lässt. Für die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Wert in drei Dimensionen statt mit einem einzelnen Kriterium bewerten</a:t>
            </a:r>
          </a:p>
        </p:txBody>
      </p:sp>
      <p:sp>
        <p:nvSpPr>
          <p:cNvPr id="3" name="Content Placeholder 2"/>
          <p:cNvSpPr>
            <a:spLocks noGrp="1"/>
          </p:cNvSpPr>
          <p:nvPr>
            <p:ph idx="1"/>
          </p:nvPr>
        </p:nvSpPr>
        <p:spPr/>
        <p:txBody>
          <a:bodyPr/>
          <a:lstStyle/>
          <a:p>
            <a:pPr>
              <a:defRPr sz="1800"/>
            </a:pPr>
            <a:r>
              <a:t>Planung bedeutet das: Jede gewünschte Eigenschaft sollte darauf geprüft werden, ob sie Nutzung, Vermarktung und Bestand gemeinsam unterstützt. [Weiterführende Einordnung zum Thema Wintergarten und Immobilienwert](https://holzundhaus.github.io/wintergartenduesseldorf40213/wintergarten-und-immobilienwert-was-bleibt-was-ist-mode/)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und Unterlagen frühzeitig klären</a:t>
            </a:r>
          </a:p>
        </p:txBody>
      </p:sp>
      <p:sp>
        <p:nvSpPr>
          <p:cNvPr id="3" name="Content Placeholder 2"/>
          <p:cNvSpPr>
            <a:spLocks noGrp="1"/>
          </p:cNvSpPr>
          <p:nvPr>
            <p:ph idx="1"/>
          </p:nvPr>
        </p:nvSpPr>
        <p:spPr/>
        <p:txBody>
          <a:bodyPr/>
          <a:lstStyle/>
          <a:p>
            <a:pPr>
              <a:defRPr sz="1800"/>
            </a:pPr>
            <a:r>
              <a:t>Der Genehmigungsstand ist ein dauerhafter Wertfaktor, weil nachträgliche Prüfverfahren oder fehlende Nachweise später bei Verkauf und Versicherungsfragen relevant werden können. Vor der Planung sollte deshalb geklärt werden, ob das Vorhaben verfahrensfrei ist oder eine Genehmigung benötigt. Wichtig ist außerdem, welche Unterlagen vorliegen und ob der Anbau später nachvollziehbar dokumentiert werden kann. Die Frage darf nicht erst kurz vor dem Bau beginnen, sondern gehört in das Leistungsverzeichnis. Zu einer fachlichen Einordnung der Genehmigungssituation vor Ort bietet sich der [Begleitbeitrag zur weiteren Planung und zu Baukosten](https://h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und Unterlagen frühzeitig klären</a:t>
            </a:r>
          </a:p>
        </p:txBody>
      </p:sp>
      <p:sp>
        <p:nvSpPr>
          <p:cNvPr id="3" name="Content Placeholder 2"/>
          <p:cNvSpPr>
            <a:spLocks noGrp="1"/>
          </p:cNvSpPr>
          <p:nvPr>
            <p:ph idx="1"/>
          </p:nvPr>
        </p:nvSpPr>
        <p:spPr/>
        <p:txBody>
          <a:bodyPr/>
          <a:lstStyle/>
          <a:p>
            <a:pPr>
              <a:defRPr sz="1800"/>
            </a:pPr>
            <a:r>
              <a:t>olzundhaus.github.io/wintergartenduesseldorf40213/wintergarten-und-immobilienwert-was-bleibt-was-ist-mode/). Ergänzend sollten Angebote ausweisen, welche Leistungen bei Bauausführung, Statik, Anschlüssen und Dokumentation enthalten sind und wer sie verantwortet.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Optik und Trend getrennt von der Budgetentscheidung behandeln</a:t>
            </a:r>
          </a:p>
        </p:txBody>
      </p:sp>
      <p:sp>
        <p:nvSpPr>
          <p:cNvPr id="3" name="Content Placeholder 2"/>
          <p:cNvSpPr>
            <a:spLocks noGrp="1"/>
          </p:cNvSpPr>
          <p:nvPr>
            <p:ph idx="1"/>
          </p:nvPr>
        </p:nvSpPr>
        <p:spPr/>
        <p:txBody>
          <a:bodyPr/>
          <a:lstStyle/>
          <a:p>
            <a:pPr>
              <a:defRPr sz="1800"/>
            </a:pPr>
            <a:r>
              <a:t>Farben, Holzoptiken, dekorative Glasteilungen, Sprossen sowie aktuelle Beschlags- und Griffdesigns prägen vor allem das tägliche Erscheinungsbild. Viele dieser Elemente lassen sich später austauschen oder verändern, ohne dass Konstruktion, Standfestigkeit und energetische Qualität wesentlich betroffen sind. Das bedeutet nicht, dass Gestaltung unwichtig wäre. Es bedeutet lediglich, sie als eigene Entscheidung zu behandeln und nicht mit dem Budget für tragende Maßnahmen zu vermischen. Drei Prüffragen helfen bei der Gewichtung: Lässt sich das Merkmal ohne großen Aufwand später austauschen? Ist es in den Bauunterlagen dokumentiert? Beeinflusst 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Optik und Trend getrennt von der Budgetentscheidung behandeln</a:t>
            </a:r>
          </a:p>
        </p:txBody>
      </p:sp>
      <p:sp>
        <p:nvSpPr>
          <p:cNvPr id="3" name="Content Placeholder 2"/>
          <p:cNvSpPr>
            <a:spLocks noGrp="1"/>
          </p:cNvSpPr>
          <p:nvPr>
            <p:ph idx="1"/>
          </p:nvPr>
        </p:nvSpPr>
        <p:spPr/>
        <p:txBody>
          <a:bodyPr/>
          <a:lstStyle/>
          <a:p>
            <a:pPr>
              <a:defRPr sz="1800"/>
            </a:pPr>
            <a:r>
              <a:t> Energie, Standfestigkeit oder Dauerhaftigkeit? Wenn die erste Frage mit Ja beantwortet wird, handelt es sich meist eher um Optik. Bei einem dokumentierten Einfluss auf Energie, Konstruktion oder Bestand ist eine höhere Budgetpriorität plausibel. So wird aus einer Sammlung einzelner Wünsche eine nachvollziehbare Investitionsentscheidung.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und Immobilienwert: was bleibt, was ist Mode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