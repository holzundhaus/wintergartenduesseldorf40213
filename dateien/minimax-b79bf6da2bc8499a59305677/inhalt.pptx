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wintergartenduesseldorf/-/blob/3d26f828539ce3691d5d6053c01dcbbc9ba8e6d2/_posts/2026-10-30-nachbarschaftskommunikation-wintergartenbau.md" TargetMode="External"/><Relationship Id="rId3" Type="http://schemas.openxmlformats.org/officeDocument/2006/relationships/hyperlink" Target="https://holzundhaus.github.io/wintergartenduesseldorf40213/dateien/minimax-b79bf6da2bc8499a5930567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Nachbarn einbeziehen: So gelingt die Kommunikation vor dem Wintergartenbau · Erklärende Präsentation</a:t>
            </a:r>
          </a:p>
        </p:txBody>
      </p:sp>
      <p:sp>
        <p:nvSpPr>
          <p:cNvPr id="3" name="Content Placeholder 2"/>
          <p:cNvSpPr>
            <a:spLocks noGrp="1"/>
          </p:cNvSpPr>
          <p:nvPr>
            <p:ph idx="1"/>
          </p:nvPr>
        </p:nvSpPr>
        <p:spPr/>
        <p:txBody>
          <a:bodyPr/>
          <a:lstStyle/>
          <a:p>
            <a:r>
              <a:t>Überblick: Ein Wintergarten berührt nicht nur die eigene Grundstücksgrenze, sondern verändert auch das Erleben der direkten Nachbarschaft. Schatten, Sichtachsen, Bauverkehr und die Nutzung des Anbaus können unterschiedlich bewertet werden. Ein früh vorbereitetes Gespräch hilft, die tatsächlichen Gegebenheiten zu erfassen und Konfliktpunkte zu klären, bevor Details festgelegt werden. Der folgende Leitfaden strukturiert ein solches Gespräch, ohne die erforderliche öffentlich-rechtliche Prüfung zu ersetzen.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Gespräch: eigene Planung konkretisieren</a:t>
            </a:r>
          </a:p>
        </p:txBody>
      </p:sp>
      <p:sp>
        <p:nvSpPr>
          <p:cNvPr id="3" name="Content Placeholder 2"/>
          <p:cNvSpPr>
            <a:spLocks noGrp="1"/>
          </p:cNvSpPr>
          <p:nvPr>
            <p:ph idx="1"/>
          </p:nvPr>
        </p:nvSpPr>
        <p:spPr/>
        <p:txBody>
          <a:bodyPr/>
          <a:lstStyle/>
          <a:p>
            <a:pPr>
              <a:defRPr sz="1800"/>
            </a:pPr>
            <a:r>
              <a:t>Für ein sachliches Gespräch hilft es, die wichtigsten Eckdaten bereits zu kennen. Dazu gehören die ungefähre Position und Größe des Wintergartens, der vorgesehene Zeitraum für Bauarbeiten sowie die geplante Nutzung als beheizter oder kalter Raum. Auch Zufahrten, Gerüststellflächen und die voraussichtliche Richtung des Lichteintrags können relevant sein. Wer diese Fragen vorab klärt, kann nachvollziehbar darstellen, welche Auswirkungen vom geplanten Projekt ausgehen könnten. Angaben zu vorhandenen Bäumen, Hanglagen oder bereits bestehenden Anbauten ergänzen die technische Planung um den Blick auf die reale Umgebung.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Wahrnehmungen statt Annahmen ansprechen</a:t>
            </a:r>
          </a:p>
        </p:txBody>
      </p:sp>
      <p:sp>
        <p:nvSpPr>
          <p:cNvPr id="3" name="Content Placeholder 2"/>
          <p:cNvSpPr>
            <a:spLocks noGrp="1"/>
          </p:cNvSpPr>
          <p:nvPr>
            <p:ph idx="1"/>
          </p:nvPr>
        </p:nvSpPr>
        <p:spPr/>
        <p:txBody>
          <a:bodyPr/>
          <a:lstStyle/>
          <a:p>
            <a:pPr>
              <a:defRPr sz="1800"/>
            </a:pPr>
            <a:r>
              <a:t>Nicht jede Veränderung wird von allen Beteiligten gleich bewertet. Ein zusätzlicher Baukörper kann die Sicht in einen Innenraum verändern, während Schatten zu bestimmten Tageszeiten auf das Nachbargrundstück fällt. Statt pauschal zu fragen, ob der Wintergarten „problematisch“ sei, bietet es sich an, einzelne Punkte konkret anzusprechen: Wann könnte Schatten entstehen? Welche Fenster oder Terrassenbereiche wären betroffen? Wie verändert sich das Erscheinungsbild der Grundstücksgrenze? Diese offenen Fragen schaffen mehr Klarheit als einleitende Wertungen und helfen, unterschiedliche Sichtweisen zu berücksichtigen.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Bauzeit und Nutzung gemeinsam betrachten</a:t>
            </a:r>
          </a:p>
        </p:txBody>
      </p:sp>
      <p:sp>
        <p:nvSpPr>
          <p:cNvPr id="3" name="Content Placeholder 2"/>
          <p:cNvSpPr>
            <a:spLocks noGrp="1"/>
          </p:cNvSpPr>
          <p:nvPr>
            <p:ph idx="1"/>
          </p:nvPr>
        </p:nvSpPr>
        <p:spPr/>
        <p:txBody>
          <a:bodyPr/>
          <a:lstStyle/>
          <a:p>
            <a:pPr>
              <a:defRPr sz="1800"/>
            </a:pPr>
            <a:r>
              <a:t>Auch die Bauphase kann für Anwohnerinnen und Anwohner wichtig sein. Zu klären sind daher der ungefähre Beginn, die erwartete Dauer und die vorgesehene Zufahrtssituation. Laute Arbeiten, Materialtransport und zeitweise Einschränkungen auf Zufahrten lassen sich besser einordnen, wenn der voraussichtliche Ablauf beschrieben wird. Ebenso wichtig ist die spätere Nutzung: Ein beheizter Wintergarten kann anders genutzt werden als ein kalter. Das Gespräch sollte deshalb sowohl die unmittelbare Bauphase als auch die Nutzung nach der Fertigstellung einschließen, damit Erwartungen frühzeitig ausgetauscht werden können.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Ergebnisse ohne spätere Missverständnisse festhalten</a:t>
            </a:r>
          </a:p>
        </p:txBody>
      </p:sp>
      <p:sp>
        <p:nvSpPr>
          <p:cNvPr id="3" name="Content Placeholder 2"/>
          <p:cNvSpPr>
            <a:spLocks noGrp="1"/>
          </p:cNvSpPr>
          <p:nvPr>
            <p:ph idx="1"/>
          </p:nvPr>
        </p:nvSpPr>
        <p:spPr/>
        <p:txBody>
          <a:bodyPr/>
          <a:lstStyle/>
          <a:p>
            <a:pPr>
              <a:defRPr sz="1800"/>
            </a:pPr>
            <a:r>
              <a:t>Nach dem Austausch empfiehlt sich eine kurze, sachliche Notiz. Darin können besprochene Punkte, offene Fragen, vereinbarte Zeitfenster und die nächsten Schritte vermerkt werden. Diese Dokumentation schafft keine verbindliche Genehmigung, kann aber zeigen, welche Belange angesprochen wurden und worüber eine Einigung besteht. Getrennt davon sollten formale Fragen bei der zuständigen Stelle geklärt werden. Laut den Angaben der Landesbauordnung gilt für bestimmte Wintergärten ein Mindestabstand von drei Metern zur Nachbargrenze. Dieser Wert allein beantwortet jedoch nicht alle Fragen: Auch die überbaubaren Grundstücksbereiche müssen geprüft werde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Ergebnisse ohne spätere Missverständnisse festhalten</a:t>
            </a:r>
          </a:p>
        </p:txBody>
      </p:sp>
      <p:sp>
        <p:nvSpPr>
          <p:cNvPr id="3" name="Content Placeholder 2"/>
          <p:cNvSpPr>
            <a:spLocks noGrp="1"/>
          </p:cNvSpPr>
          <p:nvPr>
            <p:ph idx="1"/>
          </p:nvPr>
        </p:nvSpPr>
        <p:spPr/>
        <p:txBody>
          <a:bodyPr/>
          <a:lstStyle/>
          <a:p>
            <a:pPr>
              <a:defRPr sz="1800"/>
            </a:pPr>
            <a:r>
              <a:t>n. Die zuständige Behörde entscheidet, ob und unter welchen Voraussetzungen ein Vorhaben zulässig 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Gespräch als Ergänzung zur formalen Prüfung</a:t>
            </a:r>
          </a:p>
        </p:txBody>
      </p:sp>
      <p:sp>
        <p:nvSpPr>
          <p:cNvPr id="3" name="Content Placeholder 2"/>
          <p:cNvSpPr>
            <a:spLocks noGrp="1"/>
          </p:cNvSpPr>
          <p:nvPr>
            <p:ph idx="1"/>
          </p:nvPr>
        </p:nvSpPr>
        <p:spPr/>
        <p:txBody>
          <a:bodyPr/>
          <a:lstStyle/>
          <a:p>
            <a:pPr>
              <a:defRPr sz="1800"/>
            </a:pPr>
            <a:r>
              <a:t>Ein Nachbarschaftsgespräch und die öffentlich-rechtliche Prüfung erfüllen unterschiedliche Aufgaben. Das Gespräch dient dem zwischenmenschlichen Austausch über Schatten, Einsicht, Erscheinungsbild und Beeinträchtigungen während der Bauzeit. Die Prüfung durch die zuständige Stelle befasst sich dagegen mit den baurechtlichen und grundstücksbezogenen Voraussetzungen. Auch eine informelle Zustimmung ersetzt diese Prüfung nicht. Wer beides getrennt behandelt, reduziert Missverständnisse und schafft eine belastbare Grundlage für die weitere Planung. Für eine vertiefte Übersicht bietet sich der weitere Ratgeber zur Nachbarschaftskommunikation vor 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Gespräch als Ergänzung zur formalen Prüfung</a:t>
            </a:r>
          </a:p>
        </p:txBody>
      </p:sp>
      <p:sp>
        <p:nvSpPr>
          <p:cNvPr id="3" name="Content Placeholder 2"/>
          <p:cNvSpPr>
            <a:spLocks noGrp="1"/>
          </p:cNvSpPr>
          <p:nvPr>
            <p:ph idx="1"/>
          </p:nvPr>
        </p:nvSpPr>
        <p:spPr/>
        <p:txBody>
          <a:bodyPr/>
          <a:lstStyle/>
          <a:p>
            <a:pPr>
              <a:defRPr sz="1800"/>
            </a:pPr>
            <a:r>
              <a:t>m Wintergartenbau an; ergänzend fasst der praktische Gesprächsleitfaden die wichtigsten Punkte für das erste Gespräch zusammen.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Nachbarn einbeziehen: So gelingt die Kommunikation vor dem Wintergartenbau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