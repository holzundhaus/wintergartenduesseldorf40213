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intergartenduesseldorf.tumblr.com/post/830746253000409088/holz-als-werkstoff-im-wintergarten" TargetMode="External"/><Relationship Id="rId3" Type="http://schemas.openxmlformats.org/officeDocument/2006/relationships/hyperlink" Target="https://holzundhaus.github.io/wintergartenduesseldorf40213/dateien/minimax-6725f3c84709e1714ba7423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 im Wintergarten: Werkstoffeigenschaften und Konstruktionsprinzipien · Erklärende Präsentation</a:t>
            </a:r>
          </a:p>
        </p:txBody>
      </p:sp>
      <p:sp>
        <p:nvSpPr>
          <p:cNvPr id="3" name="Content Placeholder 2"/>
          <p:cNvSpPr>
            <a:spLocks noGrp="1"/>
          </p:cNvSpPr>
          <p:nvPr>
            <p:ph idx="1"/>
          </p:nvPr>
        </p:nvSpPr>
        <p:spPr/>
        <p:txBody>
          <a:bodyPr/>
          <a:lstStyle/>
          <a:p>
            <a:r>
              <a:t>Überblick: Holz ist ein traditionsreicher Werkstoff im Wintergartenbau und verbindet funktionale Vorteile mit einer natürlichen Ästhetik. Ob Rahmenkonstruktion, Geländer oder dekorative Elemente – die richtige Wahl der Holzart, durchdachter konstruktiver Schutz und eine passende Oberflächenbehandlung entscheiden über die Langlebigkeit einer Wintergarten-Konstruktion. Dieser Ratgeber beleuchtet die wesentlichen Eigenschaften, gibt eine Orientierung bei der Holzartenauswahl und erläutert, wie sich der Pflegeaufwand planen lässt.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Wärmedämmung und Raumklima durch Holz</a:t>
            </a:r>
          </a:p>
        </p:txBody>
      </p:sp>
      <p:sp>
        <p:nvSpPr>
          <p:cNvPr id="3" name="Content Placeholder 2"/>
          <p:cNvSpPr>
            <a:spLocks noGrp="1"/>
          </p:cNvSpPr>
          <p:nvPr>
            <p:ph idx="1"/>
          </p:nvPr>
        </p:nvSpPr>
        <p:spPr/>
        <p:txBody>
          <a:bodyPr/>
          <a:lstStyle/>
          <a:p>
            <a:pPr>
              <a:defRPr sz="1800"/>
            </a:pPr>
            <a:r>
              <a:t>Holz leitet Wärme deutlich langsamer als metallische Werkstoffe wie Aluminium oder Stahl. Das wirkt sich auf die Oberflächentemperaturen im Inneren aus und kann den Wohnkomfort im Wintergarten positiv beeinflussen. Ergänzend dazu besitzt Holz die Fähigkeit, Feuchtigkeit aufzunehmen und bei sinkender Luftfeuchte wieder abzugeben. Diese natürliche Feuchteregulation kann das Raumklima ausgleichen, erfordert jedoch eine sorgfältig geplante Konstruktion, um Feuchtigkeitsschäden zu vermeiden. Die Verarbeitbarkeit des Materials erlaubt filigrane Profilformen, die bei anderen Werkstoffen aufwendiger herzustellen wären. Die natürliche Maserung und Far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Wärmedämmung und Raumklima durch Holz</a:t>
            </a:r>
          </a:p>
        </p:txBody>
      </p:sp>
      <p:sp>
        <p:nvSpPr>
          <p:cNvPr id="3" name="Content Placeholder 2"/>
          <p:cNvSpPr>
            <a:spLocks noGrp="1"/>
          </p:cNvSpPr>
          <p:nvPr>
            <p:ph idx="1"/>
          </p:nvPr>
        </p:nvSpPr>
        <p:spPr/>
        <p:txBody>
          <a:bodyPr/>
          <a:lstStyle/>
          <a:p>
            <a:pPr>
              <a:defRPr sz="1800"/>
            </a:pPr>
            <a:r>
              <a:t>bgebung eröffnen gestalterische Möglichkeiten, die mit beschichteten Materialien schwer erreichbar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Geeignete Holzarten für den Wintergarten</a:t>
            </a:r>
          </a:p>
        </p:txBody>
      </p:sp>
      <p:sp>
        <p:nvSpPr>
          <p:cNvPr id="3" name="Content Placeholder 2"/>
          <p:cNvSpPr>
            <a:spLocks noGrp="1"/>
          </p:cNvSpPr>
          <p:nvPr>
            <p:ph idx="1"/>
          </p:nvPr>
        </p:nvSpPr>
        <p:spPr/>
        <p:txBody>
          <a:bodyPr/>
          <a:lstStyle/>
          <a:p>
            <a:pPr>
              <a:defRPr sz="1800"/>
            </a:pPr>
            <a:r>
              <a:t>Die Wahl der Holzart bestimmt maßgeblich Dauerhaftigkeit und Pflegeaufwand. Weichhölzer wie Fichte und Kiefer gehören zu den preisgünstigeren Optionen, sind gut verarbeitbar, haben aber eine geringere Dichte und sind anfälliger für mechanische Beschädigungen. Ohne regelmäßige Pflege und Vergrauungschutz verwittert dieses Holz schneller. Harthölzer wie Lärche und Douglasie bieten eine höhere Dichte und verbesserte Widerstandsfähigkeit gegen Witterungseinflüsse. Lärche enthält natürliche Inhaltsstoffe, die die Dauerhaftigkeit erhöhen, weshalb diese Hölzer häufig ohne chemischen Holzschutz verwendet werden. Tropenhölzer wie Teak und Eiche zählen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Geeignete Holzarten für den Wintergarten</a:t>
            </a:r>
          </a:p>
        </p:txBody>
      </p:sp>
      <p:sp>
        <p:nvSpPr>
          <p:cNvPr id="3" name="Content Placeholder 2"/>
          <p:cNvSpPr>
            <a:spLocks noGrp="1"/>
          </p:cNvSpPr>
          <p:nvPr>
            <p:ph idx="1"/>
          </p:nvPr>
        </p:nvSpPr>
        <p:spPr/>
        <p:txBody>
          <a:bodyPr/>
          <a:lstStyle/>
          <a:p>
            <a:pPr>
              <a:defRPr sz="1800"/>
            </a:pPr>
            <a:r>
              <a:t> zu den dauerhaftesten Optionen. Teak enthält natürliche Öle, die das Holz vor Feuchtigkeit und Insektenbefall schützen. Bei Tropenhölzern sollten Herkunft und Zertifizierung hinterfragt werden – FSC- oder PEFC-Siegel bieten eine Orientierung.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Konstruktiver Holzschutz als Grundlage</a:t>
            </a:r>
          </a:p>
        </p:txBody>
      </p:sp>
      <p:sp>
        <p:nvSpPr>
          <p:cNvPr id="3" name="Content Placeholder 2"/>
          <p:cNvSpPr>
            <a:spLocks noGrp="1"/>
          </p:cNvSpPr>
          <p:nvPr>
            <p:ph idx="1"/>
          </p:nvPr>
        </p:nvSpPr>
        <p:spPr/>
        <p:txBody>
          <a:bodyPr/>
          <a:lstStyle/>
          <a:p>
            <a:pPr>
              <a:defRPr sz="1800"/>
            </a:pPr>
            <a:r>
              <a:t>Die Dauerhaftigkeit einer Holzkonstruktion hängt entscheidend von der konstruktiven Durchbildung ab. Wesentliche Prinzipien sind der Abstand zum Erdreich: Holzprofile sollten keinen direkten Kontakt mit Erde oder stehendem Wasser haben, und Auflager sowie Anschlüsse werden so gestaltet, dass Wasser sicher abgeleitet wird. Hohlräume und hinterlüftete Bereiche verhindern, dass sich Feuchtigkeit staut – das ist besonders an Anschlüssen und Profilenden wichtig. Hirnholzflächen, also die Stirnseiten des geschnittenen Holzes, nehmen besonders leicht Feuchtigkeit auf und werden abgedeckt oder mit schützenden Aluminiumkappen versehen. Profilquerschni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Konstruktiver Holzschutz als Grundlage</a:t>
            </a:r>
          </a:p>
        </p:txBody>
      </p:sp>
      <p:sp>
        <p:nvSpPr>
          <p:cNvPr id="3" name="Content Placeholder 2"/>
          <p:cNvSpPr>
            <a:spLocks noGrp="1"/>
          </p:cNvSpPr>
          <p:nvPr>
            <p:ph idx="1"/>
          </p:nvPr>
        </p:nvSpPr>
        <p:spPr/>
        <p:txBody>
          <a:bodyPr/>
          <a:lstStyle/>
          <a:p>
            <a:pPr>
              <a:defRPr sz="1800"/>
            </a:pPr>
            <a:r>
              <a:t>tte werden so angelegt, dass eingedrungenes Wasser sicher abfließen kann, da verschlossene Kammern ohne Entwässerung Frostschäden begünstigen.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Oberflächenbehandlung und Wartungsintervalle</a:t>
            </a:r>
          </a:p>
        </p:txBody>
      </p:sp>
      <p:sp>
        <p:nvSpPr>
          <p:cNvPr id="3" name="Content Placeholder 2"/>
          <p:cNvSpPr>
            <a:spLocks noGrp="1"/>
          </p:cNvSpPr>
          <p:nvPr>
            <p:ph idx="1"/>
          </p:nvPr>
        </p:nvSpPr>
        <p:spPr/>
        <p:txBody>
          <a:bodyPr/>
          <a:lstStyle/>
          <a:p>
            <a:pPr>
              <a:defRPr sz="1800"/>
            </a:pPr>
            <a:r>
              <a:t>Der Pflegeaufwand steht in direktem Zusammenhang mit der gewählten Oberflächenbehandlung. Lasuren dringen in das Holz ein und betonen die natürliche Struktur; je nach Beanspruchung ist ein erneuter Anstrich alle zwei bis fünf Jahre üblich. Farblacke bilden einen deckenden Film auf der Oberfläche und bieten starken UV-Schutz, platzen bei Feuchtigkeitseinwirkung jedoch eher ab als Lasuren. Öle eignen sich besonders für Harthölzer und erhalten die natürliche Haptik; regelmäßige Nachbehandlung ist erforderlich, um den Schutz aufrechtzuerhalten. Verwittertes Holz entwickelt eine silbergraue Patina, wobei die Dauerhaftigkeit erhalten bleibt, die Op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Oberflächenbehandlung und Wartungsintervalle</a:t>
            </a:r>
          </a:p>
        </p:txBody>
      </p:sp>
      <p:sp>
        <p:nvSpPr>
          <p:cNvPr id="3" name="Content Placeholder 2"/>
          <p:cNvSpPr>
            <a:spLocks noGrp="1"/>
          </p:cNvSpPr>
          <p:nvPr>
            <p:ph idx="1"/>
          </p:nvPr>
        </p:nvSpPr>
        <p:spPr/>
        <p:txBody>
          <a:bodyPr/>
          <a:lstStyle/>
          <a:p>
            <a:pPr>
              <a:defRPr sz="1800"/>
            </a:pPr>
            <a:r>
              <a:t>tik sich jedoch deutlich verändert.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Vielfältige Einsatzbereiche und Materialkombination</a:t>
            </a:r>
          </a:p>
        </p:txBody>
      </p:sp>
      <p:sp>
        <p:nvSpPr>
          <p:cNvPr id="3" name="Content Placeholder 2"/>
          <p:cNvSpPr>
            <a:spLocks noGrp="1"/>
          </p:cNvSpPr>
          <p:nvPr>
            <p:ph idx="1"/>
          </p:nvPr>
        </p:nvSpPr>
        <p:spPr/>
        <p:txBody>
          <a:bodyPr/>
          <a:lstStyle/>
          <a:p>
            <a:pPr>
              <a:defRPr sz="1800"/>
            </a:pPr>
            <a:r>
              <a:t>Holz wird in Wintergärten auf verschiedene Weisen eingesetzt. Rahmenprofile für die Verglasung sind eine klassische Anwendung. Daneben finden sich Holzapplikationen bei Geländern, Deckenverkleidungen, Fensterbänken und mobilen Möbeln. Die Kombination mit anderen Materialien – etwa Aluminium als Wetterschale außen – kann die Vorteile beider Werkstoffe verbinden: Die Wärmedämmung und Optik des Holzes bleiben innen erhalten, während die Wetterbeständigkeit durch die äußere Aluminiumschale steigt. Bei der Planung empfiehlt es sich, die Einsatzbereiche und deren spezifische Anforderungen frühzeitig zu definieren und die Materialwahl darauf abzusti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Vielfältige Einsatzbereiche und Materialkombination</a:t>
            </a:r>
          </a:p>
        </p:txBody>
      </p:sp>
      <p:sp>
        <p:nvSpPr>
          <p:cNvPr id="3" name="Content Placeholder 2"/>
          <p:cNvSpPr>
            <a:spLocks noGrp="1"/>
          </p:cNvSpPr>
          <p:nvPr>
            <p:ph idx="1"/>
          </p:nvPr>
        </p:nvSpPr>
        <p:spPr/>
        <p:txBody>
          <a:bodyPr/>
          <a:lstStyle/>
          <a:p>
            <a:pPr>
              <a:defRPr sz="1800"/>
            </a:pPr>
            <a:r>
              <a:t>mmen.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 im Wintergarten: Werkstoffeigenschaften und Konstruktionsprinzipien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