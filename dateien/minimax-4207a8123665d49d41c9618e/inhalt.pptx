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wintergartenduesseldorf40213/wintergarten-versicherung-anzeigepflicht-schadensbilder/" TargetMode="External"/><Relationship Id="rId3" Type="http://schemas.openxmlformats.org/officeDocument/2006/relationships/hyperlink" Target="https://holzundhaus.github.io/wintergartenduesseldorf40213/dateien/minimax-4207a8123665d49d41c9618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und Versicherung: Anzeigepflichten und typische Schadensbilder im Blick · Erklärende Präsentation</a:t>
            </a:r>
          </a:p>
        </p:txBody>
      </p:sp>
      <p:sp>
        <p:nvSpPr>
          <p:cNvPr id="3" name="Content Placeholder 2"/>
          <p:cNvSpPr>
            <a:spLocks noGrp="1"/>
          </p:cNvSpPr>
          <p:nvPr>
            <p:ph idx="1"/>
          </p:nvPr>
        </p:nvSpPr>
        <p:spPr/>
        <p:txBody>
          <a:bodyPr/>
          <a:lstStyle/>
          <a:p>
            <a:r>
              <a:t>Überblick: Ein Wintergarten ist nicht nur eine Erweiterung der Terrasse, sondern ein baulich und versicherungsrechtlich sensibler neuer Gebäudeteil. Besonders wichtig ist deshalb die Frage: Welche Angaben müssen bereits während der Planung feststehen, damit Versicherer Bauweise, Verglasung und Gefährdungen richtig einordnen können? Der folgende Leitfaden verbindet die Versicherungsfragen mit einer konkreten Dokumentationspraxis und hilft, offene Punkte vor der Beauftragung zu erkennen.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Versicherungsfähigkeit mit der Planung verbinden</a:t>
            </a:r>
          </a:p>
        </p:txBody>
      </p:sp>
      <p:sp>
        <p:nvSpPr>
          <p:cNvPr id="3" name="Content Placeholder 2"/>
          <p:cNvSpPr>
            <a:spLocks noGrp="1"/>
          </p:cNvSpPr>
          <p:nvPr>
            <p:ph idx="1"/>
          </p:nvPr>
        </p:nvSpPr>
        <p:spPr/>
        <p:txBody>
          <a:bodyPr/>
          <a:lstStyle/>
          <a:p>
            <a:pPr>
              <a:defRPr sz="1800"/>
            </a:pPr>
            <a:r>
              <a:t>Bei der Planung sollte nicht erst kurz vor der Fertigstellung über Deckungen gesprochen werden. Nutzung, Heizung und Anbindung an das Wohnhaus beeinflussen, wie der Wintergarten eingestuft wird. Relevant sind daher beispielsweise die Frage, ob der Raum ganzjährig oder nur saisonal genutzt wird, seine Verbindung zum Gebäude sowie die Ausbildung von Türen, Schwellen und Leitungsübergängen. Auch Größe, Aufbau und Verglasung gehören in das Gespräch. Eine konkrete Beschreibung erleichtert die Zuordnung zu Wohngebäudeversicherung, Glasdeckung und gegebenenfalls Elementarschutz. Sinnvoll ist eine kurze Unterlage mit Grundriss, Ansichten und den wich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Versicherungsfähigkeit mit der Planung verbinden</a:t>
            </a:r>
          </a:p>
        </p:txBody>
      </p:sp>
      <p:sp>
        <p:nvSpPr>
          <p:cNvPr id="3" name="Content Placeholder 2"/>
          <p:cNvSpPr>
            <a:spLocks noGrp="1"/>
          </p:cNvSpPr>
          <p:nvPr>
            <p:ph idx="1"/>
          </p:nvPr>
        </p:nvSpPr>
        <p:spPr/>
        <p:txBody>
          <a:bodyPr/>
          <a:lstStyle/>
          <a:p>
            <a:pPr>
              <a:defRPr sz="1800"/>
            </a:pPr>
            <a:r>
              <a:t>tigsten Bauteilen. Sie dient nicht nur der Versicherung, sondern auch später als Referenz für Angebot, Rechnung und Schadenmeldung.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Unterlage für das Versicherungsgespräch vorbereiten</a:t>
            </a:r>
          </a:p>
        </p:txBody>
      </p:sp>
      <p:sp>
        <p:nvSpPr>
          <p:cNvPr id="3" name="Content Placeholder 2"/>
          <p:cNvSpPr>
            <a:spLocks noGrp="1"/>
          </p:cNvSpPr>
          <p:nvPr>
            <p:ph idx="1"/>
          </p:nvPr>
        </p:nvSpPr>
        <p:spPr/>
        <p:txBody>
          <a:bodyPr/>
          <a:lstStyle/>
          <a:p>
            <a:pPr>
              <a:defRPr sz="1800"/>
            </a:pPr>
            <a:r>
              <a:t>Für das Erstgespräch mit dem Versicherer genügt ein strukturierter Fragenkatalog. Zu Nutzung und Konstruktion gehören Angaben zur ganzjährigen Beheizung, zum räumlichen Zusammenhang mit dem Haus, zu beweglichen und festen Verglasungselementen sowie zu Türen und Öffnungen. Beim Standort sind Lage, Bebauung und regionale Witterungseinflüsse wie Sturm oder Hagel zu berücksichtigen. Entscheidend ist außerdem, welche Unterlagen zum Projekt vorliegen. Dazu können Leistungsbeschreibung, Planungszeichnungen, Produkt- oder Verlegeinformationen sowie eine vollständige Aufgabenliste zählen. Letztere sollte enthaltene und ausgeschlossene Positionen unter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belastbare Unterlage für das Versicherungsgespräch vorbereiten</a:t>
            </a:r>
          </a:p>
        </p:txBody>
      </p:sp>
      <p:sp>
        <p:nvSpPr>
          <p:cNvPr id="3" name="Content Placeholder 2"/>
          <p:cNvSpPr>
            <a:spLocks noGrp="1"/>
          </p:cNvSpPr>
          <p:nvPr>
            <p:ph idx="1"/>
          </p:nvPr>
        </p:nvSpPr>
        <p:spPr/>
        <p:txBody>
          <a:bodyPr/>
          <a:lstStyle/>
          <a:p>
            <a:pPr>
              <a:defRPr sz="1800"/>
            </a:pPr>
            <a:r>
              <a:t>scheiden, damit erkennbar bleibt, wer welche Leistung übernimmt. Auch Angaben zum Bodenaufbau, zur Entwässerung und zu Anschlüssen am Bestand sind hilfreich. Offene Punkte sollten ausdrücklich markiert und vor der Vergabe geklärt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Schadensbilder vorsorglich einordnen</a:t>
            </a:r>
          </a:p>
        </p:txBody>
      </p:sp>
      <p:sp>
        <p:nvSpPr>
          <p:cNvPr id="3" name="Content Placeholder 2"/>
          <p:cNvSpPr>
            <a:spLocks noGrp="1"/>
          </p:cNvSpPr>
          <p:nvPr>
            <p:ph idx="1"/>
          </p:nvPr>
        </p:nvSpPr>
        <p:spPr/>
        <p:txBody>
          <a:bodyPr/>
          <a:lstStyle/>
          <a:p>
            <a:pPr>
              <a:defRPr sz="1800"/>
            </a:pPr>
            <a:r>
              <a:t>Die Versicherungszuordnung wird verständlicher, wenn bereits vor dem Schadenfall klar ist, welche typischen Risiken mit dem Wintergarten verbunden sind. Glasbruch kann durch mechanische Belastung oder Temperatureinflüsse entstehen. Bei Sturm können sich Dach- oder Seitenelemente lösen oder verschieben. Hagel hinterlässt Einschläge an Glasflächen und eventuell vorhandenen Beschattungselementen. Undichte Schwellen, Anschlüsse an der Hauswand oder eine unzureichende Entwässerung können zu Wasserschäden führen. Feuchtigkeit, Kondenswasser und Schimmel sind ebenfalls zu beachten. Diese Schadensbilder sind keine Checkliste zur Selbstdiagnose, sonde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Schadensbilder vorsorglich einordnen</a:t>
            </a:r>
          </a:p>
        </p:txBody>
      </p:sp>
      <p:sp>
        <p:nvSpPr>
          <p:cNvPr id="3" name="Content Placeholder 2"/>
          <p:cNvSpPr>
            <a:spLocks noGrp="1"/>
          </p:cNvSpPr>
          <p:nvPr>
            <p:ph idx="1"/>
          </p:nvPr>
        </p:nvSpPr>
        <p:spPr/>
        <p:txBody>
          <a:bodyPr/>
          <a:lstStyle/>
          <a:p>
            <a:pPr>
              <a:defRPr sz="1800"/>
            </a:pPr>
            <a:r>
              <a:t>rn eine Orientierung für die Unterlagen. Fotos, Pläne, Materialangaben und die Korrespondenz mit Fachbetrieben oder Versicherern helfen dabei, den Zusammenhang zwischen Schaden und baulicher Situation nachvollziehbar zu machen.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dem Bau und im Schadenfall vorbereitet bleiben</a:t>
            </a:r>
          </a:p>
        </p:txBody>
      </p:sp>
      <p:sp>
        <p:nvSpPr>
          <p:cNvPr id="3" name="Content Placeholder 2"/>
          <p:cNvSpPr>
            <a:spLocks noGrp="1"/>
          </p:cNvSpPr>
          <p:nvPr>
            <p:ph idx="1"/>
          </p:nvPr>
        </p:nvSpPr>
        <p:spPr/>
        <p:txBody>
          <a:bodyPr/>
          <a:lstStyle/>
          <a:p>
            <a:pPr>
              <a:defRPr sz="1800"/>
            </a:pPr>
            <a:r>
              <a:t>Nach Abschluss der Arbeiten sollte der Versicherer informiert und geprüft werden, ob Angaben zu Nutzung, Maßen, Bauart und Verglasung in den bestehenden Unterlagen berücksichtigt sind. Parallel empfiehlt sich eine aktuelle Dokumentation des fertigen Wintergartens. Im Schadenfall sind eine klare Beschreibung des Anbaus, Angaben zur Verglasung, relevante Vereinbarungen mit dem Fachbetrieb sowie die bisherige Versicherungskommunikation nützlich. Zuständigkeiten und Ausschlüsse lassen sich dann schneller klären. Der weiterführende Ratgeber zu Wintergarten und Versicherung sowie die Übersicht typischer Schadensbilder bieten dafür eine thematische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dem Bau und im Schadenfall vorbereitet bleiben</a:t>
            </a:r>
          </a:p>
        </p:txBody>
      </p:sp>
      <p:sp>
        <p:nvSpPr>
          <p:cNvPr id="3" name="Content Placeholder 2"/>
          <p:cNvSpPr>
            <a:spLocks noGrp="1"/>
          </p:cNvSpPr>
          <p:nvPr>
            <p:ph idx="1"/>
          </p:nvPr>
        </p:nvSpPr>
        <p:spPr/>
        <p:txBody>
          <a:bodyPr/>
          <a:lstStyle/>
          <a:p>
            <a:pPr>
              <a:defRPr sz="1800"/>
            </a:pPr>
            <a:r>
              <a:t>Grundlage. Entscheidend bleibt, die Angaben aus dem eigenen Projekt vollständig, widerspruchsfrei und aktuell zu halten.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und Versicherung: Anzeigepflichten und typische Schadensbilder im 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